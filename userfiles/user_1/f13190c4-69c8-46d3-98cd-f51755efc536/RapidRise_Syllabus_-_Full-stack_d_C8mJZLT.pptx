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3" r:id="rId2"/>
  </p:sldMasterIdLst>
  <p:notesMasterIdLst>
    <p:notesMasterId r:id="rId13"/>
  </p:notesMasterIdLst>
  <p:sldIdLst>
    <p:sldId id="264" r:id="rId3"/>
    <p:sldId id="257" r:id="rId4"/>
    <p:sldId id="259" r:id="rId5"/>
    <p:sldId id="265" r:id="rId6"/>
    <p:sldId id="266" r:id="rId7"/>
    <p:sldId id="267" r:id="rId8"/>
    <p:sldId id="260" r:id="rId9"/>
    <p:sldId id="261" r:id="rId10"/>
    <p:sldId id="262" r:id="rId11"/>
    <p:sldId id="263" r:id="rId12"/>
  </p:sldIdLst>
  <p:sldSz cx="12192000" cy="6858000"/>
  <p:notesSz cx="96012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VMDQMgat4eN65FJGcbGyCJZtG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67F3D2-6E03-4E28-9E1B-F989C6C18825}">
  <a:tblStyle styleId="{C367F3D2-6E03-4E28-9E1B-F989C6C188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69"/>
    <p:restoredTop sz="94721"/>
  </p:normalViewPr>
  <p:slideViewPr>
    <p:cSldViewPr snapToGrid="0">
      <p:cViewPr varScale="1">
        <p:scale>
          <a:sx n="83" d="100"/>
          <a:sy n="83" d="100"/>
        </p:scale>
        <p:origin x="58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416052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438458" y="1"/>
            <a:ext cx="416052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2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7D1E211-7013-D86B-1704-6A8D5B7E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86F0EEF1-DCEC-E727-7FB0-510ADE87F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112B7BAB-94A9-2A6F-3194-1ADB720D4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2A55514A-A207-45E5-E3AF-8DC2060BA0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3755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5F030DC3-1A24-20AC-3B0E-8751D892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1C791190-F6B6-B5DE-836E-DA8400E6E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4C5236C0-BB6A-7C88-77C1-B8C8D8D3F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58E792C0-C924-C766-048C-5FE6D9702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861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824A6BB-C4BC-2C14-2DC5-E1703B3D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>
            <a:extLst>
              <a:ext uri="{FF2B5EF4-FFF2-40B4-BE49-F238E27FC236}">
                <a16:creationId xmlns:a16="http://schemas.microsoft.com/office/drawing/2014/main" id="{95B06181-B541-0688-8C30-19939CED4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>
            <a:extLst>
              <a:ext uri="{FF2B5EF4-FFF2-40B4-BE49-F238E27FC236}">
                <a16:creationId xmlns:a16="http://schemas.microsoft.com/office/drawing/2014/main" id="{046FA31B-2C26-A7F1-4AB7-A8240F783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60" cy="288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>
            <a:extLst>
              <a:ext uri="{FF2B5EF4-FFF2-40B4-BE49-F238E27FC236}">
                <a16:creationId xmlns:a16="http://schemas.microsoft.com/office/drawing/2014/main" id="{FB92D1F6-01CC-151C-3900-290AA6FED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3299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f27e1613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af27e1613d_0_7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00" cy="28803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2af27e1613d_0_7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400" cy="3669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af27e1613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af27e1613d_0_20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00" cy="28803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2af27e1613d_0_20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400" cy="3669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f27e1613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f27e1613d_0_30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00" cy="28803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af27e1613d_0_30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400" cy="3669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f27e1613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f27e1613d_0_40:notes"/>
          <p:cNvSpPr txBox="1">
            <a:spLocks noGrp="1"/>
          </p:cNvSpPr>
          <p:nvPr>
            <p:ph type="body" idx="1"/>
          </p:nvPr>
        </p:nvSpPr>
        <p:spPr>
          <a:xfrm>
            <a:off x="960120" y="3520440"/>
            <a:ext cx="7680900" cy="288030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2af27e1613d_0_40:notes"/>
          <p:cNvSpPr txBox="1">
            <a:spLocks noGrp="1"/>
          </p:cNvSpPr>
          <p:nvPr>
            <p:ph type="sldNum" idx="12"/>
          </p:nvPr>
        </p:nvSpPr>
        <p:spPr>
          <a:xfrm>
            <a:off x="5438458" y="6948171"/>
            <a:ext cx="4160400" cy="366900"/>
          </a:xfrm>
          <a:prstGeom prst="rect">
            <a:avLst/>
          </a:prstGeom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0861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▪"/>
              <a:defRPr/>
            </a:lvl2pPr>
            <a:lvl3pPr marL="1371600" lvl="2" indent="-2895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Char char="o"/>
              <a:defRPr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2"/>
          </p:nvPr>
        </p:nvSpPr>
        <p:spPr>
          <a:xfrm>
            <a:off x="6172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0861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▪"/>
              <a:defRPr/>
            </a:lvl2pPr>
            <a:lvl3pPr marL="1371600" lvl="2" indent="-2895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Char char="o"/>
              <a:defRPr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5706000" cy="47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313200" y="1620000"/>
            <a:ext cx="5706000" cy="4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0861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▪"/>
              <a:defRPr/>
            </a:lvl2pPr>
            <a:lvl3pPr marL="1371600" lvl="2" indent="-2895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Char char="o"/>
              <a:defRPr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3"/>
          </p:nvPr>
        </p:nvSpPr>
        <p:spPr>
          <a:xfrm>
            <a:off x="6172200" y="1044000"/>
            <a:ext cx="5706000" cy="476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marL="914400" lvl="1" indent="-228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4"/>
          </p:nvPr>
        </p:nvSpPr>
        <p:spPr>
          <a:xfrm>
            <a:off x="6172200" y="1620000"/>
            <a:ext cx="5706000" cy="4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0861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Char char="▪"/>
              <a:defRPr/>
            </a:lvl2pPr>
            <a:lvl3pPr marL="1371600" lvl="2" indent="-28956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Char char="o"/>
              <a:defRPr/>
            </a:lvl3pPr>
            <a:lvl4pPr marL="1828800" lvl="3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4pPr>
            <a:lvl5pPr marL="2286000" lvl="4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313200" y="1173670"/>
            <a:ext cx="45719" cy="333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8"/>
          <p:cNvSpPr/>
          <p:nvPr/>
        </p:nvSpPr>
        <p:spPr>
          <a:xfrm>
            <a:off x="6172200" y="1173670"/>
            <a:ext cx="45719" cy="3332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831850" y="112236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body" idx="1"/>
          </p:nvPr>
        </p:nvSpPr>
        <p:spPr>
          <a:xfrm>
            <a:off x="831850" y="3999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body" idx="1"/>
          </p:nvPr>
        </p:nvSpPr>
        <p:spPr>
          <a:xfrm>
            <a:off x="312420" y="1044000"/>
            <a:ext cx="1156716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0861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8956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"/>
              <a:buFont typeface="Courier New"/>
              <a:buChar char="o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/>
          <p:nvPr/>
        </p:nvSpPr>
        <p:spPr>
          <a:xfrm>
            <a:off x="8029575" y="6379200"/>
            <a:ext cx="4162425" cy="478800"/>
          </a:xfrm>
          <a:custGeom>
            <a:avLst/>
            <a:gdLst/>
            <a:ahLst/>
            <a:cxnLst/>
            <a:rect l="l" t="t" r="r" b="b"/>
            <a:pathLst>
              <a:path w="4181475" h="561975" extrusionOk="0">
                <a:moveTo>
                  <a:pt x="438150" y="95250"/>
                </a:moveTo>
                <a:lnTo>
                  <a:pt x="0" y="561975"/>
                </a:lnTo>
                <a:lnTo>
                  <a:pt x="4181475" y="561975"/>
                </a:lnTo>
                <a:lnTo>
                  <a:pt x="4181475" y="0"/>
                </a:lnTo>
                <a:lnTo>
                  <a:pt x="523875" y="0"/>
                </a:lnTo>
                <a:lnTo>
                  <a:pt x="438150" y="9525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5"/>
          <p:cNvSpPr/>
          <p:nvPr/>
        </p:nvSpPr>
        <p:spPr>
          <a:xfrm>
            <a:off x="-1" y="6380074"/>
            <a:ext cx="8305801" cy="477926"/>
          </a:xfrm>
          <a:custGeom>
            <a:avLst/>
            <a:gdLst/>
            <a:ahLst/>
            <a:cxnLst/>
            <a:rect l="l" t="t" r="r" b="b"/>
            <a:pathLst>
              <a:path w="8343554" h="477926" extrusionOk="0">
                <a:moveTo>
                  <a:pt x="0" y="0"/>
                </a:moveTo>
                <a:lnTo>
                  <a:pt x="8343554" y="0"/>
                </a:lnTo>
                <a:lnTo>
                  <a:pt x="7796413" y="477926"/>
                </a:lnTo>
                <a:lnTo>
                  <a:pt x="0" y="477926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94496" y="133092"/>
            <a:ext cx="1499995" cy="5666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5"/>
          <p:cNvSpPr/>
          <p:nvPr/>
        </p:nvSpPr>
        <p:spPr>
          <a:xfrm>
            <a:off x="314129" y="0"/>
            <a:ext cx="5299788" cy="832815"/>
          </a:xfrm>
          <a:prstGeom prst="homePlate">
            <a:avLst>
              <a:gd name="adj" fmla="val 50000"/>
            </a:avLst>
          </a:prstGeom>
          <a:solidFill>
            <a:srgbClr val="8DA9D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161730" y="0"/>
            <a:ext cx="5299788" cy="832815"/>
          </a:xfrm>
          <a:prstGeom prst="homePlate">
            <a:avLst>
              <a:gd name="adj" fmla="val 50000"/>
            </a:avLst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0" y="0"/>
            <a:ext cx="5299788" cy="832815"/>
          </a:xfrm>
          <a:prstGeom prst="homePlate">
            <a:avLst>
              <a:gd name="adj" fmla="val 50000"/>
            </a:avLst>
          </a:prstGeom>
          <a:solidFill>
            <a:srgbClr val="0052A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8029575" y="6379200"/>
            <a:ext cx="4162425" cy="478800"/>
          </a:xfrm>
          <a:custGeom>
            <a:avLst/>
            <a:gdLst/>
            <a:ahLst/>
            <a:cxnLst/>
            <a:rect l="l" t="t" r="r" b="b"/>
            <a:pathLst>
              <a:path w="4181475" h="561975" extrusionOk="0">
                <a:moveTo>
                  <a:pt x="438150" y="95250"/>
                </a:moveTo>
                <a:lnTo>
                  <a:pt x="0" y="561975"/>
                </a:lnTo>
                <a:lnTo>
                  <a:pt x="4181475" y="561975"/>
                </a:lnTo>
                <a:lnTo>
                  <a:pt x="4181475" y="0"/>
                </a:lnTo>
                <a:lnTo>
                  <a:pt x="523875" y="0"/>
                </a:lnTo>
                <a:lnTo>
                  <a:pt x="438150" y="9525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-1" y="6380074"/>
            <a:ext cx="8305801" cy="477926"/>
          </a:xfrm>
          <a:custGeom>
            <a:avLst/>
            <a:gdLst/>
            <a:ahLst/>
            <a:cxnLst/>
            <a:rect l="l" t="t" r="r" b="b"/>
            <a:pathLst>
              <a:path w="8343554" h="477926" extrusionOk="0">
                <a:moveTo>
                  <a:pt x="0" y="0"/>
                </a:moveTo>
                <a:lnTo>
                  <a:pt x="8343554" y="0"/>
                </a:lnTo>
                <a:lnTo>
                  <a:pt x="7796413" y="477926"/>
                </a:lnTo>
                <a:lnTo>
                  <a:pt x="0" y="477926"/>
                </a:lnTo>
                <a:lnTo>
                  <a:pt x="0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94496" y="213012"/>
            <a:ext cx="1499995" cy="56663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dt" idx="10"/>
          </p:nvPr>
        </p:nvSpPr>
        <p:spPr>
          <a:xfrm>
            <a:off x="21180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k21academy.com/cloud-blogs/cloud-fundamentals/" TargetMode="External"/><Relationship Id="rId13" Type="http://schemas.openxmlformats.org/officeDocument/2006/relationships/hyperlink" Target="https://git-scm.com/book/en/v2/Getting-Started-About-Version-Control" TargetMode="External"/><Relationship Id="rId18" Type="http://schemas.openxmlformats.org/officeDocument/2006/relationships/hyperlink" Target="https://www.tutorialspoint.com/mvvm/index.htm" TargetMode="External"/><Relationship Id="rId3" Type="http://schemas.openxmlformats.org/officeDocument/2006/relationships/hyperlink" Target="https://www.javatpoint.com/what-is-object-oriented-programming" TargetMode="External"/><Relationship Id="rId7" Type="http://schemas.openxmlformats.org/officeDocument/2006/relationships/hyperlink" Target="https://developer.mozilla.org/en-US/docs/Web/HTTP/Overview" TargetMode="External"/><Relationship Id="rId12" Type="http://schemas.openxmlformats.org/officeDocument/2006/relationships/hyperlink" Target="https://www.cloudflare.com/learning/security/what-is-web-application-security/" TargetMode="External"/><Relationship Id="rId17" Type="http://schemas.openxmlformats.org/officeDocument/2006/relationships/hyperlink" Target="https://www.geeksforgeeks.org/introduction-to-model-view-view-model-mvvm/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www.tutorialspoint.com/mvc_framework/mvc_framework_introduction.ht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utorialspoint.com/software_architecture_design/introduction.htm" TargetMode="External"/><Relationship Id="rId11" Type="http://schemas.openxmlformats.org/officeDocument/2006/relationships/hyperlink" Target="https://developer.mozilla.org/en-US/docs/Web/Security" TargetMode="External"/><Relationship Id="rId5" Type="http://schemas.openxmlformats.org/officeDocument/2006/relationships/hyperlink" Target="https://www.ibm.com/topics/software-testing" TargetMode="External"/><Relationship Id="rId15" Type="http://schemas.openxmlformats.org/officeDocument/2006/relationships/hyperlink" Target="https://www.geeksforgeeks.org/mvc-framework-introduction/" TargetMode="External"/><Relationship Id="rId10" Type="http://schemas.openxmlformats.org/officeDocument/2006/relationships/hyperlink" Target="https://careerfoundry.com/en/blog/ux-design/the-difference-between-ux-and-ui-design-a-laymans-guide" TargetMode="External"/><Relationship Id="rId4" Type="http://schemas.openxmlformats.org/officeDocument/2006/relationships/hyperlink" Target="https://en.wikipedia.org/wiki/Object-oriented_programming" TargetMode="External"/><Relationship Id="rId9" Type="http://schemas.openxmlformats.org/officeDocument/2006/relationships/hyperlink" Target="https://techsparks.co.in/cloud-computing-fundamentals-its-basics-and-terminology/" TargetMode="External"/><Relationship Id="rId14" Type="http://schemas.openxmlformats.org/officeDocument/2006/relationships/hyperlink" Target="https://www.baeldung.com/cs/rest-architecture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p.net/manual/en/" TargetMode="External"/><Relationship Id="rId13" Type="http://schemas.openxmlformats.org/officeDocument/2006/relationships/hyperlink" Target="https://www.w3schools.com/nodejs/" TargetMode="External"/><Relationship Id="rId18" Type="http://schemas.openxmlformats.org/officeDocument/2006/relationships/hyperlink" Target="https://www.w3schools.com/typescript/typescript_intro.php" TargetMode="External"/><Relationship Id="rId3" Type="http://schemas.openxmlformats.org/officeDocument/2006/relationships/hyperlink" Target="https://dev.java/learn/" TargetMode="External"/><Relationship Id="rId7" Type="http://schemas.openxmlformats.org/officeDocument/2006/relationships/hyperlink" Target="https://www.javatpoint.com/steps-to-connect-to-the-database-in-java" TargetMode="External"/><Relationship Id="rId12" Type="http://schemas.openxmlformats.org/officeDocument/2006/relationships/hyperlink" Target="https://nodejs.org/en/learn/getting-started/introduction-to-nodejs" TargetMode="External"/><Relationship Id="rId17" Type="http://schemas.openxmlformats.org/officeDocument/2006/relationships/hyperlink" Target="https://www.typescriptlang.org/docs/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developer.mozilla.org/en-US/docs/Web/JavaScrip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java/" TargetMode="External"/><Relationship Id="rId11" Type="http://schemas.openxmlformats.org/officeDocument/2006/relationships/hyperlink" Target="https://www.w3schools.com/python/" TargetMode="External"/><Relationship Id="rId5" Type="http://schemas.openxmlformats.org/officeDocument/2006/relationships/hyperlink" Target="https://www.javatpoint.com/java-tutorial" TargetMode="External"/><Relationship Id="rId15" Type="http://schemas.openxmlformats.org/officeDocument/2006/relationships/hyperlink" Target="https://www.turing.com/kb/javascript-for-backend-development" TargetMode="External"/><Relationship Id="rId10" Type="http://schemas.openxmlformats.org/officeDocument/2006/relationships/hyperlink" Target="https://www.python.org/doc/" TargetMode="External"/><Relationship Id="rId4" Type="http://schemas.openxmlformats.org/officeDocument/2006/relationships/hyperlink" Target="https://www.w3schools.com/java/" TargetMode="External"/><Relationship Id="rId9" Type="http://schemas.openxmlformats.org/officeDocument/2006/relationships/hyperlink" Target="https://www.w3schools.com/php/" TargetMode="External"/><Relationship Id="rId14" Type="http://schemas.openxmlformats.org/officeDocument/2006/relationships/hyperlink" Target="https://www.w3schools.com/js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cakephp/index.htm" TargetMode="External"/><Relationship Id="rId13" Type="http://schemas.openxmlformats.org/officeDocument/2006/relationships/hyperlink" Target="https://expressjs.com/en/starter/installing.html" TargetMode="External"/><Relationship Id="rId18" Type="http://schemas.openxmlformats.org/officeDocument/2006/relationships/hyperlink" Target="https://react.dev/learn" TargetMode="External"/><Relationship Id="rId3" Type="http://schemas.openxmlformats.org/officeDocument/2006/relationships/hyperlink" Target="https://spring.io/guides/gs/spring-boot/" TargetMode="External"/><Relationship Id="rId21" Type="http://schemas.openxmlformats.org/officeDocument/2006/relationships/hyperlink" Target="https://www.w3schools.com/vue/index.php" TargetMode="External"/><Relationship Id="rId7" Type="http://schemas.openxmlformats.org/officeDocument/2006/relationships/hyperlink" Target="https://api.cakephp.org/5.0/" TargetMode="External"/><Relationship Id="rId12" Type="http://schemas.openxmlformats.org/officeDocument/2006/relationships/hyperlink" Target="https://www.tutorialspoint.com/flask/index.htm" TargetMode="External"/><Relationship Id="rId17" Type="http://schemas.openxmlformats.org/officeDocument/2006/relationships/hyperlink" Target="https://angular.io/start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www.javatpoint.com/nestjs" TargetMode="External"/><Relationship Id="rId20" Type="http://schemas.openxmlformats.org/officeDocument/2006/relationships/hyperlink" Target="https://vuejs.org/guide/introduction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ook.cakephp.org/5/en/index.html" TargetMode="External"/><Relationship Id="rId11" Type="http://schemas.openxmlformats.org/officeDocument/2006/relationships/hyperlink" Target="https://flask.palletsprojects.com/en/3.0.x/" TargetMode="External"/><Relationship Id="rId5" Type="http://schemas.openxmlformats.org/officeDocument/2006/relationships/hyperlink" Target="https://laravel.com/" TargetMode="External"/><Relationship Id="rId15" Type="http://schemas.openxmlformats.org/officeDocument/2006/relationships/hyperlink" Target="https://docs.nestjs.com/" TargetMode="External"/><Relationship Id="rId10" Type="http://schemas.openxmlformats.org/officeDocument/2006/relationships/hyperlink" Target="https://www.w3schools.com/django/" TargetMode="External"/><Relationship Id="rId19" Type="http://schemas.openxmlformats.org/officeDocument/2006/relationships/hyperlink" Target="https://www.w3schools.com/REACT/DEFAULT.ASP" TargetMode="External"/><Relationship Id="rId4" Type="http://schemas.openxmlformats.org/officeDocument/2006/relationships/hyperlink" Target="https://www.baeldung.com/spring-boot" TargetMode="External"/><Relationship Id="rId9" Type="http://schemas.openxmlformats.org/officeDocument/2006/relationships/hyperlink" Target="https://docs.djangoproject.com/en/5.0/" TargetMode="External"/><Relationship Id="rId14" Type="http://schemas.openxmlformats.org/officeDocument/2006/relationships/hyperlink" Target="https://www.tutorialspoint.com/nodejs/nodejs_express_framework.ht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mysql-tutorial-excerpt/8.0/en/tutorial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w3schools.com/mongodb/" TargetMode="External"/><Relationship Id="rId5" Type="http://schemas.openxmlformats.org/officeDocument/2006/relationships/hyperlink" Target="https://www.mongodb.com/docs/" TargetMode="External"/><Relationship Id="rId4" Type="http://schemas.openxmlformats.org/officeDocument/2006/relationships/hyperlink" Target="https://www.w3schools.com/MySQL/default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74E097-0333-045A-1A15-6C1AC5385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00" y="1044000"/>
            <a:ext cx="9516600" cy="51228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Software Development lifecycle</a:t>
            </a:r>
          </a:p>
          <a:p>
            <a:r>
              <a:rPr lang="en-US" sz="2000" dirty="0"/>
              <a:t>Coding standards</a:t>
            </a:r>
          </a:p>
          <a:p>
            <a:r>
              <a:rPr lang="en-US" sz="2000" dirty="0"/>
              <a:t>Object oriented programming</a:t>
            </a:r>
          </a:p>
          <a:p>
            <a:r>
              <a:rPr lang="en-US" sz="2000" dirty="0"/>
              <a:t>Software Testing </a:t>
            </a:r>
          </a:p>
          <a:p>
            <a:r>
              <a:rPr lang="en-US" sz="2000" dirty="0"/>
              <a:t>Software Architecture design</a:t>
            </a:r>
          </a:p>
          <a:p>
            <a:r>
              <a:rPr lang="en-US" sz="2000" dirty="0"/>
              <a:t>Web Technology overview</a:t>
            </a:r>
          </a:p>
          <a:p>
            <a:r>
              <a:rPr lang="en-US" sz="2000" dirty="0"/>
              <a:t>Cloud Fundamentals</a:t>
            </a:r>
          </a:p>
          <a:p>
            <a:r>
              <a:rPr lang="en-US" sz="2000" dirty="0"/>
              <a:t>UI/UX</a:t>
            </a:r>
          </a:p>
          <a:p>
            <a:r>
              <a:rPr lang="en-US" sz="2000" dirty="0"/>
              <a:t>Security Practices</a:t>
            </a:r>
          </a:p>
          <a:p>
            <a:r>
              <a:rPr lang="en-US" sz="2000" dirty="0"/>
              <a:t>Version control using Git</a:t>
            </a:r>
          </a:p>
          <a:p>
            <a:r>
              <a:rPr lang="en-US" sz="2000" dirty="0"/>
              <a:t>MVC &amp; MVVM</a:t>
            </a:r>
          </a:p>
          <a:p>
            <a:pPr marL="127000" indent="0">
              <a:buNone/>
            </a:pPr>
            <a:endParaRPr lang="en-US" dirty="0"/>
          </a:p>
          <a:p>
            <a:pPr marL="12700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1846D-9649-6B5E-8910-D178B794A2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85476E-EAFB-DB92-D76C-F0432386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concepts</a:t>
            </a:r>
          </a:p>
        </p:txBody>
      </p:sp>
    </p:spTree>
    <p:extLst>
      <p:ext uri="{BB962C8B-B14F-4D97-AF65-F5344CB8AC3E}">
        <p14:creationId xmlns:p14="http://schemas.microsoft.com/office/powerpoint/2010/main" val="419329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lvl="0" indent="-1800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Back-end(at-least one)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Java (Spring boot)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PHP (Laravel / CakePHP)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Python (Django / Flask)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Node.JS/JavaScript (Express / NestJS)</a:t>
            </a:r>
            <a:endParaRPr dirty="0"/>
          </a:p>
          <a:p>
            <a:pPr marL="180000" lvl="0" indent="-180000" algn="just" rtl="0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Front-end (at-least one)</a:t>
            </a:r>
            <a:endParaRPr lang="en-US" dirty="0"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JavaScript (React &amp; Vue.JS)</a:t>
            </a:r>
            <a:endParaRPr lang="en-US"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TypeScript (Angular &amp; Vue.JS)</a:t>
            </a:r>
            <a:endParaRPr dirty="0"/>
          </a:p>
        </p:txBody>
      </p:sp>
      <p:sp>
        <p:nvSpPr>
          <p:cNvPr id="88" name="Google Shape;88;p2"/>
          <p:cNvSpPr txBox="1">
            <a:spLocks noGrp="1"/>
          </p:cNvSpPr>
          <p:nvPr>
            <p:ph type="body" idx="2"/>
          </p:nvPr>
        </p:nvSpPr>
        <p:spPr>
          <a:xfrm>
            <a:off x="6172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lvl="0" indent="-1800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/>
              <a:t>Topics to cover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Programming basics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Data types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Operators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Functions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Control structures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Data Structures</a:t>
            </a:r>
            <a:endParaRPr dirty="0"/>
          </a:p>
          <a:p>
            <a:pPr marL="540000" lvl="2" indent="-179999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 dirty="0"/>
              <a:t>Arrays</a:t>
            </a:r>
            <a:endParaRPr dirty="0"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 dirty="0"/>
              <a:t>Strings</a:t>
            </a:r>
            <a:endParaRPr dirty="0"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 dirty="0"/>
              <a:t>Dictionary/Map</a:t>
            </a:r>
            <a:endParaRPr dirty="0"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 dirty="0"/>
              <a:t>List/Set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Classes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Database access</a:t>
            </a:r>
            <a:endParaRPr dirty="0"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 dirty="0"/>
              <a:t>Exception handling</a:t>
            </a:r>
            <a:endParaRPr dirty="0"/>
          </a:p>
          <a:p>
            <a:pPr marL="180000" lvl="0" indent="-53000" algn="l" rtl="0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/>
          </a:p>
        </p:txBody>
      </p:sp>
      <p:sp>
        <p:nvSpPr>
          <p:cNvPr id="89" name="Google Shape;89;p2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Innovature Confidential</a:t>
            </a:r>
            <a:endParaRPr/>
          </a:p>
        </p:txBody>
      </p:sp>
      <p:sp>
        <p:nvSpPr>
          <p:cNvPr id="90" name="Google Shape;90;p2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/>
              <a:t>Programming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lvl="0" indent="-1800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MySQL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Relational database concepts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Keys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Relationship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Transactions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Data types</a:t>
            </a:r>
            <a:endParaRPr/>
          </a:p>
          <a:p>
            <a:pPr marL="360000" lvl="1" indent="-180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Data definition</a:t>
            </a:r>
            <a:endParaRPr/>
          </a:p>
          <a:p>
            <a:pPr marL="540000" lvl="2" indent="-179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CREATE / ALTER / DROP DATABASE</a:t>
            </a:r>
            <a:endParaRPr/>
          </a:p>
          <a:p>
            <a:pPr marL="540000" lvl="2" indent="-179999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CREATE / ALTER / DROP TABLE</a:t>
            </a:r>
            <a:endParaRPr/>
          </a:p>
          <a:p>
            <a:pPr marL="360000" lvl="1" indent="-1800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Data manipulation</a:t>
            </a:r>
            <a:endParaRPr/>
          </a:p>
          <a:p>
            <a:pPr marL="540000" lvl="2" indent="-1799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INSERT / UPDATE / DELETE</a:t>
            </a:r>
            <a:endParaRPr/>
          </a:p>
          <a:p>
            <a:pPr marL="540000" lvl="2" indent="-179999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SELECT</a:t>
            </a:r>
            <a:endParaRPr/>
          </a:p>
          <a:p>
            <a:pPr marL="540000" lvl="2" indent="-179999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LOAD DATA</a:t>
            </a:r>
            <a:endParaRPr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2"/>
          </p:nvPr>
        </p:nvSpPr>
        <p:spPr>
          <a:xfrm>
            <a:off x="6172200" y="1044000"/>
            <a:ext cx="5706000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lvl="0" indent="-1800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MongoDB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NoSQL database concepts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Collections &amp; Documents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Index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CRUD operations</a:t>
            </a:r>
            <a:endParaRPr/>
          </a:p>
          <a:p>
            <a:pPr marL="540000" lvl="2" indent="-179999" algn="just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Create</a:t>
            </a:r>
            <a:endParaRPr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Read</a:t>
            </a:r>
            <a:endParaRPr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Update</a:t>
            </a:r>
            <a:endParaRPr/>
          </a:p>
          <a:p>
            <a:pPr marL="540000" lvl="2" indent="-179999" algn="just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80"/>
              <a:buChar char="o"/>
            </a:pPr>
            <a:r>
              <a:rPr lang="en-US" sz="1600"/>
              <a:t>Delete</a:t>
            </a:r>
            <a:endParaRPr/>
          </a:p>
          <a:p>
            <a:pPr marL="360000" lvl="1" indent="-180000" algn="just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</a:pPr>
            <a:r>
              <a:rPr lang="en-US" sz="1800"/>
              <a:t>Aggregation</a:t>
            </a:r>
            <a:endParaRPr/>
          </a:p>
        </p:txBody>
      </p:sp>
      <p:sp>
        <p:nvSpPr>
          <p:cNvPr id="109" name="Google Shape;109;p4"/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Innovature Confidential</a:t>
            </a:r>
            <a:endParaRPr/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/>
              <a:t>Database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7EA6EF4-6C15-2540-8F2C-7ABBDC04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5E6DAAAB-F9FD-F0C2-8E83-FCE415CB8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10114034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0000" indent="-180000" algn="just">
              <a:lnSpc>
                <a:spcPct val="120000"/>
              </a:lnSpc>
              <a:spcBef>
                <a:spcPts val="0"/>
              </a:spcBef>
              <a:buSzPts val="2000"/>
            </a:pPr>
            <a:r>
              <a:rPr lang="en-IN" sz="2400" b="1" dirty="0"/>
              <a:t>File Sharing Web Application</a:t>
            </a:r>
            <a:endParaRPr lang="en-US" sz="2400" b="1" dirty="0"/>
          </a:p>
          <a:p>
            <a:pPr marL="637200" lvl="1" indent="-180000" algn="just">
              <a:spcBef>
                <a:spcPts val="0"/>
              </a:spcBef>
              <a:buSzPts val="2000"/>
              <a:buChar char="•"/>
            </a:pPr>
            <a:r>
              <a:rPr lang="en-US" sz="2000" dirty="0"/>
              <a:t>Back-end</a:t>
            </a:r>
          </a:p>
          <a:p>
            <a:pPr marL="817200" lvl="2" indent="-180000" algn="just">
              <a:buSzPts val="1620"/>
            </a:pPr>
            <a:r>
              <a:rPr lang="en-US" sz="1800" dirty="0"/>
              <a:t>Create a REST API application</a:t>
            </a:r>
          </a:p>
          <a:p>
            <a:pPr marL="637200" lvl="1" indent="-180000" algn="just">
              <a:spcBef>
                <a:spcPts val="0"/>
              </a:spcBef>
              <a:buSzPts val="2000"/>
              <a:buChar char="•"/>
            </a:pPr>
            <a:r>
              <a:rPr lang="en-US" sz="2000" dirty="0"/>
              <a:t>Front-end</a:t>
            </a:r>
          </a:p>
          <a:p>
            <a:pPr marL="817200" lvl="2" indent="-180000" algn="just">
              <a:buSzPts val="1620"/>
            </a:pPr>
            <a:r>
              <a:rPr lang="en-US" sz="1800" dirty="0"/>
              <a:t>Front-end for consuming the REST API</a:t>
            </a:r>
          </a:p>
          <a:p>
            <a:pPr marL="817200" lvl="2" indent="-180000">
              <a:buSzPts val="1620"/>
            </a:pPr>
            <a:r>
              <a:rPr lang="en-IN" sz="1800" dirty="0"/>
              <a:t>Both client-side and server-side validation for all forms data</a:t>
            </a:r>
            <a:br>
              <a:rPr lang="en-US" sz="1800" dirty="0"/>
            </a:br>
            <a:endParaRPr lang="en-US" sz="1800" dirty="0"/>
          </a:p>
          <a:p>
            <a:pPr marL="637200" lvl="1" indent="-180000">
              <a:spcBef>
                <a:spcPts val="0"/>
              </a:spcBef>
              <a:buSzPts val="2000"/>
              <a:buFont typeface="Noto Sans Symbols"/>
              <a:buChar char="•"/>
            </a:pPr>
            <a:r>
              <a:rPr lang="en-US" sz="2000" b="1" dirty="0"/>
              <a:t>Application outline</a:t>
            </a:r>
            <a:br>
              <a:rPr lang="en-US" sz="2000" dirty="0"/>
            </a:br>
            <a:r>
              <a:rPr lang="en-IN" sz="1800" b="1" dirty="0"/>
              <a:t>1. User Authentication and Authorization</a:t>
            </a:r>
            <a:endParaRPr lang="en-US" sz="1800" b="1" dirty="0"/>
          </a:p>
          <a:p>
            <a:pPr lvl="1"/>
            <a:r>
              <a:rPr lang="en-US" sz="1800" dirty="0"/>
              <a:t> </a:t>
            </a:r>
            <a:r>
              <a:rPr lang="en-IN" sz="1600" b="1" dirty="0"/>
              <a:t>User Registration</a:t>
            </a:r>
            <a:endParaRPr lang="en-US" sz="1600" dirty="0"/>
          </a:p>
          <a:p>
            <a:pPr lvl="2"/>
            <a:r>
              <a:rPr lang="en-IN" sz="1400" dirty="0"/>
              <a:t>Fields: First Name, Last Name, Email Address, Password, Confirm Password, Date of Birth.</a:t>
            </a:r>
            <a:endParaRPr lang="en-US" sz="1400" dirty="0"/>
          </a:p>
          <a:p>
            <a:pPr lvl="1"/>
            <a:r>
              <a:rPr lang="en-IN" sz="1600" b="1" dirty="0"/>
              <a:t>User Login</a:t>
            </a:r>
            <a:endParaRPr lang="en-US" sz="1600" dirty="0"/>
          </a:p>
          <a:p>
            <a:pPr lvl="2"/>
            <a:r>
              <a:rPr lang="en-IN" sz="1400" dirty="0"/>
              <a:t>Users log in using email and password.</a:t>
            </a:r>
            <a:endParaRPr lang="en-US" sz="1400" dirty="0"/>
          </a:p>
          <a:p>
            <a:pPr lvl="1"/>
            <a:r>
              <a:rPr lang="en-IN" sz="1600" b="1" dirty="0"/>
              <a:t>Change Password</a:t>
            </a:r>
            <a:endParaRPr lang="en-US" sz="1600" dirty="0"/>
          </a:p>
          <a:p>
            <a:pPr lvl="2"/>
            <a:r>
              <a:rPr lang="en-IN" sz="1400" dirty="0"/>
              <a:t>Authenticated users can change their password by inputting old password, new password and confirm</a:t>
            </a:r>
            <a:r>
              <a:rPr lang="en-IN" sz="1600" dirty="0"/>
              <a:t> </a:t>
            </a:r>
            <a:r>
              <a:rPr lang="en-IN" sz="1400" dirty="0"/>
              <a:t>password</a:t>
            </a:r>
            <a:r>
              <a:rPr lang="en-IN" dirty="0"/>
              <a:t>.</a:t>
            </a:r>
            <a:endParaRPr lang="en-US" dirty="0"/>
          </a:p>
          <a:p>
            <a:pPr marL="457200" lvl="1" indent="0">
              <a:spcBef>
                <a:spcPts val="0"/>
              </a:spcBef>
              <a:buSzPts val="2000"/>
              <a:buNone/>
            </a:pPr>
            <a:endParaRPr lang="en-US" sz="1800" dirty="0"/>
          </a:p>
        </p:txBody>
      </p:sp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A6859CCB-F636-F6A5-03AE-977B1F730B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Innovature Confidential</a:t>
            </a:r>
            <a:endParaRPr/>
          </a:p>
        </p:txBody>
      </p:sp>
      <p:sp>
        <p:nvSpPr>
          <p:cNvPr id="100" name="Google Shape;100;p3">
            <a:extLst>
              <a:ext uri="{FF2B5EF4-FFF2-40B4-BE49-F238E27FC236}">
                <a16:creationId xmlns:a16="http://schemas.microsoft.com/office/drawing/2014/main" id="{EA5BE930-B55B-11D1-1E11-83D1C7FC33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5627EDB4-5EF2-CEF2-8266-ACA4B1300D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lang="en-US" dirty="0"/>
              <a:t>Final Application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048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D036D1F-B56B-21BF-C117-45FBD139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773C99A0-4441-6223-68FF-4052A03F7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200" y="1044000"/>
            <a:ext cx="9845092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1"/>
            <a:r>
              <a:rPr lang="en-IN" sz="1600" b="1" dirty="0"/>
              <a:t>Forgot Password</a:t>
            </a:r>
            <a:endParaRPr lang="en-US" sz="1600" dirty="0"/>
          </a:p>
          <a:p>
            <a:pPr lvl="2"/>
            <a:r>
              <a:rPr lang="en-IN" sz="1400" dirty="0"/>
              <a:t>Users can reset their password by receiving a reset link sent to their registered email address.</a:t>
            </a:r>
            <a:endParaRPr lang="en-US" sz="1400" dirty="0"/>
          </a:p>
          <a:p>
            <a:pPr marL="457200" lvl="1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IN" sz="1800" b="1" dirty="0"/>
              <a:t>2. File Management</a:t>
            </a:r>
            <a:endParaRPr lang="en-US" sz="1800" b="1" dirty="0"/>
          </a:p>
          <a:p>
            <a:pPr lvl="1"/>
            <a:r>
              <a:rPr lang="en-IN" sz="1800" dirty="0"/>
              <a:t>File Upload</a:t>
            </a:r>
            <a:endParaRPr lang="en-US" sz="1800" dirty="0"/>
          </a:p>
          <a:p>
            <a:pPr lvl="2"/>
            <a:r>
              <a:rPr lang="en-IN" sz="1400" dirty="0"/>
              <a:t>Authenticated users can upload files.</a:t>
            </a:r>
            <a:endParaRPr lang="en-US" sz="1400" dirty="0"/>
          </a:p>
          <a:p>
            <a:pPr lvl="2"/>
            <a:r>
              <a:rPr lang="en-IN" sz="1400" dirty="0"/>
              <a:t>Drag-and-drop upload functionality supported.</a:t>
            </a:r>
            <a:endParaRPr lang="en-US" sz="1400" dirty="0"/>
          </a:p>
          <a:p>
            <a:pPr lvl="2"/>
            <a:r>
              <a:rPr lang="en-IN" sz="1400" dirty="0"/>
              <a:t>Multiple file uploads in a single request.</a:t>
            </a:r>
            <a:endParaRPr lang="en-US" sz="1400" dirty="0"/>
          </a:p>
          <a:p>
            <a:pPr lvl="2"/>
            <a:r>
              <a:rPr lang="en-IN" sz="1400" dirty="0"/>
              <a:t>Maximum individual file size: </a:t>
            </a:r>
            <a:r>
              <a:rPr lang="en-IN" sz="1400" b="1" dirty="0"/>
              <a:t>100 MB</a:t>
            </a:r>
            <a:r>
              <a:rPr lang="en-IN" sz="1400" dirty="0"/>
              <a:t>.</a:t>
            </a:r>
            <a:endParaRPr lang="en-US" sz="1400" dirty="0"/>
          </a:p>
          <a:p>
            <a:pPr lvl="2"/>
            <a:r>
              <a:rPr lang="en-IN" sz="1400" dirty="0"/>
              <a:t>Maximum total storage per user: </a:t>
            </a:r>
            <a:r>
              <a:rPr lang="en-IN" sz="1400" b="1" dirty="0"/>
              <a:t>1 GB</a:t>
            </a:r>
            <a:r>
              <a:rPr lang="en-IN" sz="1400" dirty="0"/>
              <a:t>.</a:t>
            </a:r>
            <a:endParaRPr lang="en-US" sz="1400" dirty="0"/>
          </a:p>
          <a:p>
            <a:pPr lvl="1"/>
            <a:r>
              <a:rPr lang="en-IN" sz="1800" dirty="0"/>
              <a:t>File Listing</a:t>
            </a:r>
            <a:endParaRPr lang="en-US" sz="1800" dirty="0"/>
          </a:p>
          <a:p>
            <a:pPr lvl="2"/>
            <a:r>
              <a:rPr lang="en-IN" sz="1400" dirty="0"/>
              <a:t>Paginated list view of uploaded files with search functionality.</a:t>
            </a:r>
            <a:endParaRPr lang="en-US" sz="1400" dirty="0"/>
          </a:p>
          <a:p>
            <a:pPr lvl="1"/>
            <a:r>
              <a:rPr lang="en-IN" sz="1800" dirty="0"/>
              <a:t>Users can:</a:t>
            </a:r>
            <a:endParaRPr lang="en-US" sz="1800" dirty="0"/>
          </a:p>
          <a:p>
            <a:pPr lvl="2"/>
            <a:r>
              <a:rPr lang="en-IN" sz="1400" dirty="0"/>
              <a:t>Download files.</a:t>
            </a:r>
            <a:endParaRPr lang="en-US" sz="1400" dirty="0"/>
          </a:p>
          <a:p>
            <a:pPr lvl="2"/>
            <a:r>
              <a:rPr lang="en-IN" sz="1400" dirty="0"/>
              <a:t>Delete files.</a:t>
            </a:r>
            <a:endParaRPr lang="en-US" sz="1400" dirty="0"/>
          </a:p>
          <a:p>
            <a:pPr lvl="1"/>
            <a:r>
              <a:rPr lang="en-IN" sz="1600" dirty="0"/>
              <a:t>Users can only access files they have uploaded.</a:t>
            </a:r>
            <a:endParaRPr lang="en-US" sz="1600" dirty="0"/>
          </a:p>
          <a:p>
            <a:endParaRPr lang="en-US" dirty="0"/>
          </a:p>
        </p:txBody>
      </p:sp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E9B0FBB0-743D-D81B-C645-663DAAD5034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Innovature Confidential</a:t>
            </a:r>
            <a:endParaRPr/>
          </a:p>
        </p:txBody>
      </p:sp>
      <p:sp>
        <p:nvSpPr>
          <p:cNvPr id="100" name="Google Shape;100;p3">
            <a:extLst>
              <a:ext uri="{FF2B5EF4-FFF2-40B4-BE49-F238E27FC236}">
                <a16:creationId xmlns:a16="http://schemas.microsoft.com/office/drawing/2014/main" id="{2DF5FDED-8001-3E9E-9CF4-FA844AA997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EF3A32E-CB88-B2F1-7A1B-F97AA1963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US" dirty="0"/>
              <a:t>Final Application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67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63A014F7-3DBB-6F05-5B5E-DBC23DC68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>
            <a:extLst>
              <a:ext uri="{FF2B5EF4-FFF2-40B4-BE49-F238E27FC236}">
                <a16:creationId xmlns:a16="http://schemas.microsoft.com/office/drawing/2014/main" id="{C93C866C-38B7-29A1-A72C-38B8F5C58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3199" y="1044000"/>
            <a:ext cx="10067929" cy="51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1" indent="0">
              <a:lnSpc>
                <a:spcPct val="120000"/>
              </a:lnSpc>
              <a:spcBef>
                <a:spcPts val="0"/>
              </a:spcBef>
              <a:buSzPts val="2000"/>
              <a:buNone/>
            </a:pPr>
            <a:r>
              <a:rPr lang="en-IN" sz="1700" b="1" dirty="0"/>
              <a:t>3. File Sharing</a:t>
            </a:r>
            <a:endParaRPr lang="en-US" sz="1700" b="1" dirty="0"/>
          </a:p>
          <a:p>
            <a:pPr lvl="1"/>
            <a:r>
              <a:rPr lang="en-IN" sz="2000" dirty="0"/>
              <a:t>Public File Sharing</a:t>
            </a:r>
            <a:endParaRPr lang="en-US" sz="2000" dirty="0"/>
          </a:p>
          <a:p>
            <a:pPr lvl="2"/>
            <a:r>
              <a:rPr lang="en-IN" sz="1600" dirty="0"/>
              <a:t>Authenticated users can share their own files with external users (public share).</a:t>
            </a:r>
            <a:endParaRPr lang="en-US" sz="1600" dirty="0"/>
          </a:p>
          <a:p>
            <a:pPr lvl="2"/>
            <a:r>
              <a:rPr lang="en-IN" sz="1600" dirty="0"/>
              <a:t>Required input for sharing:</a:t>
            </a:r>
            <a:endParaRPr lang="en-US" sz="1600" dirty="0"/>
          </a:p>
          <a:p>
            <a:pPr lvl="3"/>
            <a:r>
              <a:rPr lang="en-IN" sz="1400" dirty="0"/>
              <a:t>Recipient's email address.</a:t>
            </a:r>
            <a:endParaRPr lang="en-US" sz="1400" dirty="0"/>
          </a:p>
          <a:p>
            <a:pPr lvl="3"/>
            <a:r>
              <a:rPr lang="en-IN" sz="1400" dirty="0"/>
              <a:t>Expiration time in hours.</a:t>
            </a:r>
            <a:endParaRPr lang="en-US" sz="1400" dirty="0"/>
          </a:p>
          <a:p>
            <a:pPr lvl="3"/>
            <a:r>
              <a:rPr lang="en-IN" sz="1400" dirty="0"/>
              <a:t>Message for displaying in the email.</a:t>
            </a:r>
            <a:endParaRPr lang="en-US" sz="1400" dirty="0"/>
          </a:p>
          <a:p>
            <a:pPr lvl="2"/>
            <a:r>
              <a:rPr lang="en-IN" sz="1600" dirty="0"/>
              <a:t>A unique shareable link is sent via email to the recipient.</a:t>
            </a:r>
            <a:endParaRPr lang="en-US" sz="1600" dirty="0"/>
          </a:p>
          <a:p>
            <a:pPr lvl="2"/>
            <a:r>
              <a:rPr lang="en-IN" sz="1600" dirty="0"/>
              <a:t>Same file can be shared with multiple recipients (each with a unique share URL).</a:t>
            </a:r>
            <a:endParaRPr lang="en-US" sz="1600" dirty="0"/>
          </a:p>
          <a:p>
            <a:pPr lvl="2"/>
            <a:r>
              <a:rPr lang="en-IN" sz="1600" dirty="0"/>
              <a:t>Shared links are accessible only within the defined expiration period.</a:t>
            </a:r>
            <a:endParaRPr lang="en-US" sz="1600" dirty="0"/>
          </a:p>
          <a:p>
            <a:pPr lvl="2"/>
            <a:r>
              <a:rPr lang="en-IN" sz="1600" dirty="0"/>
              <a:t>Public users can view and download the file using the share URL.</a:t>
            </a:r>
            <a:endParaRPr lang="en-US" sz="1600" dirty="0"/>
          </a:p>
          <a:p>
            <a:pPr lvl="1"/>
            <a:r>
              <a:rPr lang="en-IN" sz="2000" dirty="0"/>
              <a:t>Shared File List</a:t>
            </a:r>
            <a:endParaRPr lang="en-US" sz="2000" dirty="0"/>
          </a:p>
          <a:p>
            <a:pPr lvl="2"/>
            <a:r>
              <a:rPr lang="en-IN" sz="1600" dirty="0"/>
              <a:t>Authenticated users can view a list of all shared files.</a:t>
            </a:r>
            <a:endParaRPr lang="en-US" sz="1600" dirty="0"/>
          </a:p>
          <a:p>
            <a:pPr lvl="2"/>
            <a:r>
              <a:rPr lang="en-IN" sz="1600" dirty="0"/>
              <a:t>List includes:</a:t>
            </a:r>
            <a:endParaRPr lang="en-US" sz="1600" dirty="0"/>
          </a:p>
          <a:p>
            <a:pPr lvl="3"/>
            <a:r>
              <a:rPr lang="en-IN" sz="1400" dirty="0"/>
              <a:t>File name</a:t>
            </a:r>
            <a:endParaRPr lang="en-US" sz="1400" dirty="0"/>
          </a:p>
          <a:p>
            <a:pPr lvl="3"/>
            <a:r>
              <a:rPr lang="en-IN" sz="1400" dirty="0"/>
              <a:t>Share date</a:t>
            </a:r>
            <a:endParaRPr lang="en-US" sz="1400" dirty="0"/>
          </a:p>
          <a:p>
            <a:pPr lvl="3"/>
            <a:r>
              <a:rPr lang="en-IN" sz="1400" dirty="0"/>
              <a:t>Status of whether the public user has accessed the file</a:t>
            </a:r>
            <a:endParaRPr lang="en-US" sz="1400" dirty="0"/>
          </a:p>
          <a:p>
            <a:endParaRPr lang="en-US" dirty="0"/>
          </a:p>
        </p:txBody>
      </p:sp>
      <p:sp>
        <p:nvSpPr>
          <p:cNvPr id="99" name="Google Shape;99;p3">
            <a:extLst>
              <a:ext uri="{FF2B5EF4-FFF2-40B4-BE49-F238E27FC236}">
                <a16:creationId xmlns:a16="http://schemas.microsoft.com/office/drawing/2014/main" id="{51327528-D877-A81F-98F2-1B654AF9D1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436038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Innovature Confidential</a:t>
            </a:r>
            <a:endParaRPr/>
          </a:p>
        </p:txBody>
      </p:sp>
      <p:sp>
        <p:nvSpPr>
          <p:cNvPr id="100" name="Google Shape;100;p3">
            <a:extLst>
              <a:ext uri="{FF2B5EF4-FFF2-40B4-BE49-F238E27FC236}">
                <a16:creationId xmlns:a16="http://schemas.microsoft.com/office/drawing/2014/main" id="{9256FD13-48A3-1919-5B16-0B7758C48A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160AE8E0-C8B7-429E-C5C4-9DF9D34DD0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2400"/>
            </a:pPr>
            <a:r>
              <a:rPr lang="en-US" dirty="0"/>
              <a:t>Final Application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516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f27e1613d_0_7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8" name="Google Shape;118;g2af27e1613d_0_7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References: General Concepts</a:t>
            </a:r>
            <a:endParaRPr/>
          </a:p>
        </p:txBody>
      </p:sp>
      <p:graphicFrame>
        <p:nvGraphicFramePr>
          <p:cNvPr id="119" name="Google Shape;119;g2af27e1613d_0_7"/>
          <p:cNvGraphicFramePr/>
          <p:nvPr>
            <p:extLst>
              <p:ext uri="{D42A27DB-BD31-4B8C-83A1-F6EECF244321}">
                <p14:modId xmlns:p14="http://schemas.microsoft.com/office/powerpoint/2010/main" val="4239818127"/>
              </p:ext>
            </p:extLst>
          </p:nvPr>
        </p:nvGraphicFramePr>
        <p:xfrm>
          <a:off x="898675" y="868979"/>
          <a:ext cx="9540115" cy="5613891"/>
        </p:xfrm>
        <a:graphic>
          <a:graphicData uri="http://schemas.openxmlformats.org/drawingml/2006/table">
            <a:tbl>
              <a:tblPr>
                <a:noFill/>
                <a:tableStyleId>{C367F3D2-6E03-4E28-9E1B-F989C6C18825}</a:tableStyleId>
              </a:tblPr>
              <a:tblGrid>
                <a:gridCol w="2144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5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77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Software Development lifecycle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https://aws.amazon.com/what-is/sdlc/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https://www.tutorialspoint.com/sdlc/sdlc_overview.htm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9169722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Coding standards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https://www.geeksforgeeks.org/coding-standards-and-guidelines/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https://blog.codacy.com/coding-standards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3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009144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Object Oriented Programming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https://en.wikipedia.org/wiki/Object-oriented_programming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https://www.javatpoint.com/what-is-object-oriented-programming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3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435714"/>
                  </a:ext>
                </a:extLst>
              </a:tr>
              <a:tr h="2915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Software Testing 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https://www.ibm.com/topics/software-testing</a:t>
                      </a:r>
                      <a:endParaRPr lang="en-US"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https://www.geeksforgeeks.org/software-testing-basics/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584982"/>
                  </a:ext>
                </a:extLst>
              </a:tr>
              <a:tr h="2570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Software Architecture design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https://www.tutorialspoint.com/software_architecture_design/introduction.htm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662022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Web Technology overview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https://www.geeksforgeeks.org/web-technology/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https://developer.mozilla.org/en-US/docs/Web/HTTP/Overview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7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Cloud Fundamentals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https://k21academy.com/cloud-blogs/cloud-fundamentals/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https://techsparks.co.in/cloud-computing-fundamentals-its-basics-and-terminology/</a:t>
                      </a:r>
                      <a:endParaRPr lang="en-US"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449461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UI/UX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https://careerfoundry.com/en/blog/ux-design/the-difference-between-ux-and-ui-design-a-laymans-guide</a:t>
                      </a:r>
                      <a:endParaRPr lang="en-US"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https://bootcamp.cvn.columbia.edu/blog/what-is-ux-design/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288796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Security Practices</a:t>
                      </a: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https://developer.mozilla.org/en-US/docs/Web/Security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1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https://www.cloudflare.com/learning/security/what-is-web-application-security/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Version control using Git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https://git-scm.com/book/en/v2/Getting-Started-About-Version-Control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3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https://nvie.com/posts/a-successful-git-branching-model/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848940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Architecture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https://www.baeldung.com/cs/rest-architecture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https://www.codecademy.com/article/what-is-rest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4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MVC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https://www.geeksforgeeks.org/mvc-framework-introduction/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https://www.tutorialspoint.com/mvc_framework/mvc_framework_introduction.htm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72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MVVM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https://www.geeksforgeeks.org/introduction-to-model-view-view-model-mvvm/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https://www.tutorialspoint.com/mvvm/index.htm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af27e1613d_0_20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6" name="Google Shape;126;g2af27e1613d_0_20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References: Programming</a:t>
            </a:r>
            <a:endParaRPr/>
          </a:p>
        </p:txBody>
      </p:sp>
      <p:graphicFrame>
        <p:nvGraphicFramePr>
          <p:cNvPr id="127" name="Google Shape;127;g2af27e1613d_0_20"/>
          <p:cNvGraphicFramePr/>
          <p:nvPr>
            <p:extLst>
              <p:ext uri="{D42A27DB-BD31-4B8C-83A1-F6EECF244321}">
                <p14:modId xmlns:p14="http://schemas.microsoft.com/office/powerpoint/2010/main" val="3247287542"/>
              </p:ext>
            </p:extLst>
          </p:nvPr>
        </p:nvGraphicFramePr>
        <p:xfrm>
          <a:off x="877150" y="1249713"/>
          <a:ext cx="10287000" cy="4849949"/>
        </p:xfrm>
        <a:graphic>
          <a:graphicData uri="http://schemas.openxmlformats.org/drawingml/2006/table">
            <a:tbl>
              <a:tblPr>
                <a:noFill/>
                <a:tableStyleId>{C367F3D2-6E03-4E28-9E1B-F989C6C18825}</a:tableStyleId>
              </a:tblPr>
              <a:tblGrid>
                <a:gridCol w="16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 row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https://dev.java/learn/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https://www.w3schools.com/java/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https://www.javatpoint.com/java-tutorial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5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https://www.geeksforgeeks.org/java/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6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6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https://www.javatpoint.com/steps-to-connect-to-the-database-in-java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PHP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https://www.php.net/manual/en/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8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https://www.w3schools.com/php/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9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https://www.python.org/doc/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1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https://www.w3schools.com/python/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Node.JS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https://nodejs.org/en/learn/getting-started/introduction-to-nodejs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3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https://www.w3schools.com/nodejs/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JavaScript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https://www.w3schools.com/js/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https://www.turing.com/kb/javascript-for-backend-development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JavaScript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https://www.w3schools.com/js/</a:t>
                      </a:r>
                      <a:endParaRPr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https://developer.mozilla.org/en-US/docs/Web/JavaScript</a:t>
                      </a:r>
                      <a:endParaRPr sz="13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32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TypeScript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https://www.typescriptlang.org/docs/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7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https://www.w3schools.com/typescript/typescript_intro.php</a:t>
                      </a:r>
                      <a:endParaRPr sz="13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af27e1613d_0_30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4" name="Google Shape;134;g2af27e1613d_0_30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References: Frameworks</a:t>
            </a:r>
            <a:endParaRPr/>
          </a:p>
        </p:txBody>
      </p:sp>
      <p:graphicFrame>
        <p:nvGraphicFramePr>
          <p:cNvPr id="135" name="Google Shape;135;g2af27e1613d_0_30"/>
          <p:cNvGraphicFramePr/>
          <p:nvPr>
            <p:extLst>
              <p:ext uri="{D42A27DB-BD31-4B8C-83A1-F6EECF244321}">
                <p14:modId xmlns:p14="http://schemas.microsoft.com/office/powerpoint/2010/main" val="2535009396"/>
              </p:ext>
            </p:extLst>
          </p:nvPr>
        </p:nvGraphicFramePr>
        <p:xfrm>
          <a:off x="898675" y="1061950"/>
          <a:ext cx="10287000" cy="4870010"/>
        </p:xfrm>
        <a:graphic>
          <a:graphicData uri="http://schemas.openxmlformats.org/drawingml/2006/table">
            <a:tbl>
              <a:tblPr>
                <a:noFill/>
                <a:tableStyleId>{C367F3D2-6E03-4E28-9E1B-F989C6C18825}</a:tableStyleId>
              </a:tblPr>
              <a:tblGrid>
                <a:gridCol w="134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875">
                <a:tc rowSpan="7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Back-end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Java - Spring boot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https://spring.io/guides/gs/spring-boot/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https://www.baeldung.com/spring-boot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PHP – Laravel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https://laravel.com/</a:t>
                      </a:r>
                      <a:endParaRPr lang="en-US"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https://www.tutorialspoint.com/laravel/laravel_overview.htm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PHP – CakePHP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https://book.cakephp.org/5/en/index.html</a:t>
                      </a:r>
                      <a:endParaRPr sz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https://api.cakephp.org/5.0/</a:t>
                      </a:r>
                      <a:endParaRPr sz="1200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https://www.tutorialspoint.com/cakephp/index.htm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– Django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https://docs.djangoproject.com/en/5.0/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9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https://www.w3schools.com/django/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 –  Flask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https://flask.palletsprojects.com/en/3.0.x/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https://www.tutorialspoint.com/flask/index.htm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NodeJS – Express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https://expressjs.com/en/starter/installing.html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https://www.tutorialspoint.com/nodejs/nodejs_express_framework.htm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3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NodeJS – NestJS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https://docs.nestjs.com/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5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https://www.javatpoint.com/nestjs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600">
                <a:tc row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Front-end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Angular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https://angular.io/start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ReactJS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https://react.dev/learn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18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https://www.w3schools.com/REACT/DEFAULT.ASP</a:t>
                      </a:r>
                      <a:endParaRPr sz="12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Vue.JS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https://vuejs.org/guide/introduction.html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21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https://www.w3schools.com/vue/index.php</a:t>
                      </a:r>
                      <a:endParaRPr sz="1200"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f27e1613d_0_40"/>
          <p:cNvSpPr txBox="1">
            <a:spLocks noGrp="1"/>
          </p:cNvSpPr>
          <p:nvPr>
            <p:ph type="sldNum" idx="12"/>
          </p:nvPr>
        </p:nvSpPr>
        <p:spPr>
          <a:xfrm>
            <a:off x="9151291" y="6436038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42" name="Google Shape;142;g2af27e1613d_0_40"/>
          <p:cNvSpPr txBox="1">
            <a:spLocks noGrp="1"/>
          </p:cNvSpPr>
          <p:nvPr>
            <p:ph type="title"/>
          </p:nvPr>
        </p:nvSpPr>
        <p:spPr>
          <a:xfrm>
            <a:off x="212400" y="121207"/>
            <a:ext cx="4525200" cy="590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References: Database</a:t>
            </a:r>
            <a:endParaRPr/>
          </a:p>
        </p:txBody>
      </p:sp>
      <p:graphicFrame>
        <p:nvGraphicFramePr>
          <p:cNvPr id="143" name="Google Shape;143;g2af27e1613d_0_40"/>
          <p:cNvGraphicFramePr/>
          <p:nvPr>
            <p:extLst>
              <p:ext uri="{D42A27DB-BD31-4B8C-83A1-F6EECF244321}">
                <p14:modId xmlns:p14="http://schemas.microsoft.com/office/powerpoint/2010/main" val="2710408521"/>
              </p:ext>
            </p:extLst>
          </p:nvPr>
        </p:nvGraphicFramePr>
        <p:xfrm>
          <a:off x="952500" y="1320025"/>
          <a:ext cx="10287000" cy="1599625"/>
        </p:xfrm>
        <a:graphic>
          <a:graphicData uri="http://schemas.openxmlformats.org/drawingml/2006/table">
            <a:tbl>
              <a:tblPr>
                <a:noFill/>
                <a:tableStyleId>{C367F3D2-6E03-4E28-9E1B-F989C6C18825}</a:tableStyleId>
              </a:tblPr>
              <a:tblGrid>
                <a:gridCol w="267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4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MySQL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"/>
                        </a:rPr>
                        <a:t>https://dev.mysql.com/doc/mysql-tutorial-excerpt/8.0/en/tutorial.html</a:t>
                      </a:r>
                      <a:endParaRPr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4"/>
                        </a:rPr>
                        <a:t>https://www.w3schools.com/MySQL/default.asp</a:t>
                      </a:r>
                      <a:endParaRPr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4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MongoDB</a:t>
                      </a:r>
                      <a:endParaRPr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5"/>
                        </a:rPr>
                        <a:t>https://www.mongodb.com/docs/</a:t>
                      </a:r>
                      <a:endParaRPr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  <a:hlinkClick r:id="rId6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u="sng" dirty="0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https://www.w3schools.com/mongodb/</a:t>
                      </a:r>
                      <a:endParaRPr u="sng" dirty="0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- No Tit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1353</Words>
  <Application>Microsoft Office PowerPoint</Application>
  <PresentationFormat>Widescreen</PresentationFormat>
  <Paragraphs>240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Noto Sans Symbols</vt:lpstr>
      <vt:lpstr>Arial</vt:lpstr>
      <vt:lpstr>Calibri</vt:lpstr>
      <vt:lpstr>Office Theme</vt:lpstr>
      <vt:lpstr>Office Theme - No Title</vt:lpstr>
      <vt:lpstr>General concepts</vt:lpstr>
      <vt:lpstr>Programming</vt:lpstr>
      <vt:lpstr>Database</vt:lpstr>
      <vt:lpstr>Final Application</vt:lpstr>
      <vt:lpstr>Final Application</vt:lpstr>
      <vt:lpstr>Final Application</vt:lpstr>
      <vt:lpstr>References: General Concepts</vt:lpstr>
      <vt:lpstr>References: Programming</vt:lpstr>
      <vt:lpstr>References: Frameworks</vt:lpstr>
      <vt:lpstr>References: Database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Concepts</dc:title>
  <dc:creator>unni</dc:creator>
  <cp:lastModifiedBy>Sajin M K</cp:lastModifiedBy>
  <cp:revision>16</cp:revision>
  <dcterms:created xsi:type="dcterms:W3CDTF">2022-11-02T09:27:57Z</dcterms:created>
  <dcterms:modified xsi:type="dcterms:W3CDTF">2026-01-27T16:02:05Z</dcterms:modified>
</cp:coreProperties>
</file>